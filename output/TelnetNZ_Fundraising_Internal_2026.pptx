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0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电讯客户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当前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4000</c:v>
                </c:pt>
                <c:pt idx="1">
                  <c:v>6000</c:v>
                </c:pt>
                <c:pt idx="2">
                  <c:v>9000</c:v>
                </c:pt>
                <c:pt idx="3">
                  <c:v>13000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6-48FE-A016-88734FA44B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电力客户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当前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500</c:v>
                </c:pt>
                <c:pt idx="2">
                  <c:v>2500</c:v>
                </c:pt>
                <c:pt idx="3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26-48FE-A016-88734FA44B6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资金分配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45-4EDE-B878-095EDFD1A662}"/>
              </c:ext>
            </c:extLst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45-4EDE-B878-095EDFD1A662}"/>
              </c:ext>
            </c:extLst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45-4EDE-B878-095EDFD1A662}"/>
              </c:ext>
            </c:extLst>
          </c:dPt>
          <c:dPt>
            <c:idx val="3"/>
            <c:bubble3D val="0"/>
            <c:spPr>
              <a:solidFill>
                <a:srgbClr val="95A5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45-4EDE-B878-095EDFD1A66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45-4EDE-B878-095EDFD1A66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45-4EDE-B878-095EDFD1A66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45-4EDE-B878-095EDFD1A66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A45-4EDE-B878-095EDFD1A6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电讯增长</c:v>
                </c:pt>
                <c:pt idx="1">
                  <c:v>电力启动</c:v>
                </c:pt>
                <c:pt idx="2">
                  <c:v>数据平台</c:v>
                </c:pt>
                <c:pt idx="3">
                  <c:v>运营缓冲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45-4EDE-B878-095EDFD1A6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852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TelnetNZ Group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综合Utility</a:t>
            </a:r>
            <a:r>
              <a:rPr lang="zh-CN" altLang="en-US" sz="280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</a:t>
            </a:r>
            <a:r>
              <a:rPr lang="en-US" sz="280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平台融资路演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内部讨论稿  |  2026年3月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38404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39502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电讯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38404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39502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9502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发电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Discussion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我们的定位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73152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5156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“我们已经验证了可规模化的 prepaid broadband </a:t>
            </a:r>
            <a:r>
              <a:rPr lang="en-US" sz="1800" i="1" dirty="0" err="1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模型，并拥有完整的电力零售与发电市场准入资格。本轮融资将把现有电讯客户基础升级为通信+电力的综合Utility</a:t>
            </a:r>
            <a:r>
              <a:rPr lang="zh-CN" altLang="en-US" sz="1800" i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</a:t>
            </a:r>
            <a:r>
              <a:rPr lang="en-US" sz="1800" i="1" dirty="0" err="1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</a:t>
            </a:r>
            <a:r>
              <a:rPr lang="en-US" sz="1800" i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91640" y="32918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34015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电讯已验证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客户，LTV/CAC 4.35x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31089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32918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34015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电力牌照就位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044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零售+发电资格齐全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0" y="31089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03720" y="32918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34015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平台化升级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2648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三年双产品升级路径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集团架构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1097280"/>
            <a:ext cx="4572000" cy="822960"/>
          </a:xfrm>
          <a:prstGeom prst="rect">
            <a:avLst/>
          </a:prstGeom>
          <a:solidFill>
            <a:srgbClr val="1B3A5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0" y="1097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TelnetNZ Group（2006年成立）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0" y="1920240"/>
            <a:ext cx="0" cy="36576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286000"/>
            <a:ext cx="640080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286000"/>
            <a:ext cx="0" cy="36576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286000"/>
            <a:ext cx="0" cy="36576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286000"/>
            <a:ext cx="0" cy="36576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651760"/>
            <a:ext cx="2194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651760"/>
            <a:ext cx="21945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8803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980944"/>
            <a:ext cx="301752" cy="3017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Hotshot Unlimited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Prepay宽带（4,000+客户）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2651760"/>
            <a:ext cx="2194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0" y="2651760"/>
            <a:ext cx="21945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Shape 15"/>
          <p:cNvSpPr/>
          <p:nvPr/>
        </p:nvSpPr>
        <p:spPr>
          <a:xfrm>
            <a:off x="4251960" y="288036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298094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747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Energy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611880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电力零售（牌照齐全）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675120" y="2651760"/>
            <a:ext cx="2194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75120" y="2651760"/>
            <a:ext cx="219456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Shape 20"/>
          <p:cNvSpPr/>
          <p:nvPr/>
        </p:nvSpPr>
        <p:spPr>
          <a:xfrm>
            <a:off x="7452360" y="2880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4" y="2980944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751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发电业务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812280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市场准入资格齐全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20年电讯基础设施运营经验  |  合作伙伴：Chorus · Vocus · Spark Wholesale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市场机会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新西兰华人市场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25 万华人，高信任度社区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ISP 长约、信用审核、纯英文服务痛点明显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社区传播效率高，达人合作易打透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中文服务有天然差异化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扩展场景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0292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搬家用户 — 即插即用最敏感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新移民 — 落地第一需求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学生租房 — 短约需求强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短租/过渡住房 — 无长约负担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华人房东/物业管理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最终目标：华人切入 → 主流市场渗透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电讯业务 — Hotshot Unlimited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产品特色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无合约、无信用审核、预付费模式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小时快速开通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免费搬家服务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随时停止，灵活自由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套餐价格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20440"/>
          <a:ext cx="4023360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0972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097280"/>
            <a:ext cx="64008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当前客户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77840" y="1444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4,000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303520" y="20116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011680"/>
            <a:ext cx="64008" cy="777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月毛利/客户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7784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NZ$10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303520" y="29260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926080"/>
            <a:ext cx="64008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获客成本 (CAC)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3273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NZ$60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303520" y="384048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840480"/>
            <a:ext cx="64008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回本周期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7784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8A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个月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单客户经济模型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NZ$60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获客成本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月毛利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NZ$10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每客户每月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留存率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3个月后稳定期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加权生命周期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26.1 个月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0.3×3 + 0.7×36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LTV（毛利口径）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154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NZ$261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29184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 × $10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7432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154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4.35x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1264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具备投放放大价值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结论：电讯业务不是单纯“低毛利搬运”，而是具备可规模化投放放大基础的现金流引擎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电力零售业务 — Telnet Energy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20116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准入与合规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已获完整电力零售牌照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 Consumer Care Obligations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Disputes Limited (UDL) 成员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SmoothPay 灵活付费方案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2011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产品特色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太阳能 buyback 计划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财务困难用户支持方案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多种付款方式（周付/双周/月付）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节能建议与方案优化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客户转化路径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92024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电讯老客户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38404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840480"/>
            <a:ext cx="192024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新签客户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8404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3840480"/>
            <a:ext cx="19202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搬家客户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38404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40880" y="3840480"/>
            <a:ext cx="1920240" cy="6400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陌生市场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策略：从现有电讯客户池转化，不冷启动大市场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发电业务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市场准入资格齐全  |  策略：轻资产 / 合作型 / 分布式 / PPA 协同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2860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平台估值增强器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发电资格作为平台故事的重要组成部分，提升整体估值叙事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210312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2860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毛利优化工具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6616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通过自发电协同，降低电力零售采购成本，提升综合毛利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210312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2860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品牌叙事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清洁能源定位增强品牌信任感，形成差异化竞争优势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现阶段不建议重资产投入大发电项目，以轻资产合作方式渐进探索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三年战略路径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325880"/>
            <a:ext cx="109728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验证放大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放大电讯获客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跑通电力零售试点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完成平台化基础建设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2194560" cy="457200"/>
          </a:xfrm>
          <a:prstGeom prst="rect">
            <a:avLst/>
          </a:prstGeom>
          <a:solidFill>
            <a:srgbClr val="1B3A5C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验证、控制风险、建立样板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1325880"/>
            <a:ext cx="109728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双产品扩张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774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交叉销售（电讯+电力）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 ARPU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降低综合 CAC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3931920"/>
            <a:ext cx="2194560" cy="457200"/>
          </a:xfrm>
          <a:prstGeom prst="rect">
            <a:avLst/>
          </a:prstGeom>
          <a:solidFill>
            <a:srgbClr val="2E86AB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交叉销售、提升ARPU、降低CAC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325880"/>
            <a:ext cx="109728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平台成型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 utility platform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电力第二增长曲线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转正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931920"/>
            <a:ext cx="2194560" cy="457200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平台化、盈利、下一轮准备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三年财务预测（Base Case）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电讯客户（年末）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电力客户（年末）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电讯毛利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$1,320K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电力毛利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发电毛利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总毛利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$1,176K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$2,172K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扣CAC后毛利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$1,932K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注：尚未纳入税务、折旧、详细人力成本、结算保证金、资本性支出等完整审计口径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客户增长轨迹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8229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本轮融资概要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融资规模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NZ$2.0M–2.5M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估值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NZ$4M–6M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融资工具建议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1E33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A：股权融资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34747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已有明确投资人，接受当前估值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438912"/>
          </a:xfrm>
          <a:prstGeom prst="rect">
            <a:avLst/>
          </a:prstGeom>
          <a:solidFill>
            <a:srgbClr val="1E335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B：SAFE/可转债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9776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估值未定，留空间给下一轮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80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推荐：小额股权+里程碑追加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4805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不压死估值，给下一轮留空间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资金用途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182880" y="100584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572000" y="11887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0" y="1188720"/>
            <a:ext cx="64008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3"/>
          <p:cNvSpPr/>
          <p:nvPr/>
        </p:nvSpPr>
        <p:spPr>
          <a:xfrm>
            <a:off x="48006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电讯增长 35%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006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社媒投放、达人合作、内容营销、转介绍机制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21031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2103120"/>
            <a:ext cx="64008" cy="777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电力启动 35%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006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团队、billing/CRM系统、合规缓冲、启动成本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30175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3017520"/>
            <a:ext cx="64008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数据平台 15%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006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客户分层、交叉销售、流失预警、LTV管理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39319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3931920"/>
            <a:ext cx="64008" cy="77724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运营缓冲 15%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0060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人员、法务、应急资金、现金流缓冲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 KPI 追踪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32588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4356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电讯业务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≤ NZ$60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3月留存 ≥ 70%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客户净增速度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转介绍比例提升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Shape 8"/>
          <p:cNvSpPr/>
          <p:nvPr/>
        </p:nvSpPr>
        <p:spPr>
          <a:xfrm>
            <a:off x="4206240" y="13258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4356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电力业务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24688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首批客户转化率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penetration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单户毛利 ≥ NZ$12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可控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Shape 13"/>
          <p:cNvSpPr/>
          <p:nvPr/>
        </p:nvSpPr>
        <p:spPr>
          <a:xfrm>
            <a:off x="7040880" y="13258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4356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平台指标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0" y="24688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双产品客户占比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单客户综合毛利提升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跨产品 CAC 摊薄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流失率下降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投资亮点总结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电讯业务已验证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客户，LTV/CAC 4.35x，单客户 6 个月回本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电力+发电牌照齐全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零额外准入成本，即刻可启动电力零售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华人市场切入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高信任低 CAC，社区传播效率高，自然扩展至主流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平台化路径清晰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三年双产品升级，Year 3 总毛利 NZ$2.17M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20年基础设施经验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TelnetNZ 2006 年成立，拥有成熟运营团队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0800 00 1919  |  info@telnetnz.co.nz  |  www.telnetnz.co.nz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629</Words>
  <Application>Microsoft Office PowerPoint</Application>
  <PresentationFormat>全屏显示(16:9)</PresentationFormat>
  <Paragraphs>240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TelnetNZ Group — Fundraising Deck</dc:title>
  <dc:subject>PptxGenJS Presentation</dc:subject>
  <dc:creator>TelnetNZ Group</dc:creator>
  <cp:lastModifiedBy>1072200279@qq.com</cp:lastModifiedBy>
  <cp:revision>2</cp:revision>
  <dcterms:created xsi:type="dcterms:W3CDTF">2026-03-27T17:11:22Z</dcterms:created>
  <dcterms:modified xsi:type="dcterms:W3CDTF">2026-03-27T17:23:54Z</dcterms:modified>
</cp:coreProperties>
</file>